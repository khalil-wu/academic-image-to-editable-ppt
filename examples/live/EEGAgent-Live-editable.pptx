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8005936" type="custom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7D4BC-B8C8-4DB4-8A0B-1FC405B5F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0208"/>
            <a:ext cx="9144000" cy="282974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94D73A-26F9-4DA5-9FCA-26561C565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9082"/>
            <a:ext cx="9144000" cy="19623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0C12D8-2C24-4CE2-9E0E-E87A1AC6A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000D8F-C544-447A-A77A-48B3F3B8B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74A58-4896-4DA5-B866-1B983901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288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8B877-E7F6-4380-AA23-8148D4F3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61AA8-597F-449D-B9FB-E79789D96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3B8A23-CE9F-4F40-8D8C-B9C6E605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AD4848-AA10-4235-82DA-0B318BD6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9F08F0-2874-4CA1-BA3D-DB9ECE88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65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FC215-2592-45E6-88DE-BD112B90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357"/>
            <a:ext cx="10515600" cy="338102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9C7A18-9A44-49C4-A0AF-16C7B4915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439364"/>
            <a:ext cx="10515600" cy="1777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E770CD-7B61-482C-8EA1-D0A3C44F0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CFC2-A677-43E0-9D00-7B7A3E61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7B1FD2-94BC-45AF-A965-3D18F6E8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85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34D1E-4141-441F-8B1C-78E432F3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EFF1A4-932E-4F9F-A8E1-D8B888D49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8AECFF-5EA5-49B7-97A9-6DDB58C5E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63704"/>
            <a:ext cx="5181600" cy="51571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25B181-6640-4A0D-B59C-F79981DC9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CEF558-A33E-4E9A-86EA-7FE86ABC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115E44-29F0-4B31-8A3F-1C55DA32C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54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C5F13-329F-409A-9A90-93E1F182C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32741"/>
            <a:ext cx="10515600" cy="15710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72B72-61DE-412E-8DE8-6E857CE21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92490"/>
            <a:ext cx="5157787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83AE27-0F58-4F8D-A742-5145720EC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968978"/>
            <a:ext cx="5157787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D900B0-E855-45A7-B040-70A3EC0FA6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92490"/>
            <a:ext cx="5183188" cy="9764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FCC2A5-1B78-45D3-ACD0-39DAB461B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8978"/>
            <a:ext cx="5183188" cy="43669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32A94C-AFE4-4166-A3CF-8FD90F0F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2E5968-E25E-4F93-80E8-05A75802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BF2AA1-E87B-4C18-BE24-788AA46A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36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9ADC4-A5C2-4931-AD27-4C4196A21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E34F5C-E739-4037-8458-E91BC237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EB18B5-7B0E-43F4-A0EA-FF34132D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A7D9FC-DF57-441A-9407-62306B42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789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618AF0-4191-4BBF-B807-AD8EE364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16CA97-2CA0-4147-B4A6-102107C7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6FD164-3704-4837-A8A6-81D9959C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13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B010C3-C2A0-40FB-82DB-9E3B9A5A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18BE3C-0210-4B06-82C2-7A2B28D12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B9B448-EC47-42DB-97F6-9D8DDEB1B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73EB45-6E24-4383-826D-FC05F53D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FC4466-F058-4590-BA4E-A1D1C763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2B9E4B-ECDA-45F4-9EE9-8C9E2522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08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A62CB-250C-4B24-A8B3-3814F9A0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541867"/>
            <a:ext cx="3932237" cy="18965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DAC899-30A5-4E24-9362-B37848B9C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70282"/>
            <a:ext cx="6172200" cy="57761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23B7EA-8A86-40EB-901E-101AE2B49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438400"/>
            <a:ext cx="3932237" cy="45174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D6CF2E-DC46-4264-B7F8-469EBDE76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BA2C6F-1EE6-4184-AECE-A99C910B3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0580BC-259E-42D5-92D9-FADF0E787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02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01D30-EE7B-4A9D-8B3A-6D4A2BEE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3776CC-DB27-48BB-B6FB-88D7CB722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D00FE-991A-4C31-B62D-C4B60F73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56E0BB-8B59-40B3-BC59-3B774AE73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5B6B55-C12B-430B-BB74-D786AEC3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86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521675-D04F-4019-9BF6-45D87FA1A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32741"/>
            <a:ext cx="2628900" cy="68881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CFB436-56F8-4463-BBBE-F6A629B3C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32741"/>
            <a:ext cx="7734300" cy="688810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913D6D-DE0B-42CB-97D8-44E4FA66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D3FDB6-99D4-4392-A0DC-28CA15D9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BC76F-997C-4380-B3FC-6A042108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577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653B32F-40B2-425F-A2FB-60E44736C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741"/>
            <a:ext cx="10515600" cy="157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AC1D37-7D52-420D-9436-5569B97F2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63704"/>
            <a:ext cx="10515600" cy="5157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32633C-7B77-416D-8794-5D78C07EB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97EEE-2A1E-4F8B-A67C-5982BDA5F945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D03915-E88A-4D26-A079-E1CC6B6A0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7533452"/>
            <a:ext cx="41148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00FFB-B7B3-46FB-98AC-521CD05AB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7533452"/>
            <a:ext cx="2743200" cy="432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10B3-CC5E-46A7-8FEE-7CD42C758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62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asset_b7f34e9437e05117b289b12e.png"/><Relationship Id="rId3" Type="http://schemas.openxmlformats.org/officeDocument/2006/relationships/image" Target="../media/asset_b5f8cd167beeefa7f1524a6d.png"/><Relationship Id="rId4" Type="http://schemas.openxmlformats.org/officeDocument/2006/relationships/image" Target="../media/asset_051a017b7c98ac79dfda259d.png"/><Relationship Id="rId5" Type="http://schemas.openxmlformats.org/officeDocument/2006/relationships/image" Target="../media/asset_0cdfd6105a92380c6b7f8c2b.png"/><Relationship Id="rId6" Type="http://schemas.openxmlformats.org/officeDocument/2006/relationships/image" Target="../media/asset_cf7d75bd95a80a0f6d229301.png"/><Relationship Id="rId7" Type="http://schemas.openxmlformats.org/officeDocument/2006/relationships/image" Target="../media/asset_34a54092acd4cd431775cb4b.png"/><Relationship Id="rId8" Type="http://schemas.openxmlformats.org/officeDocument/2006/relationships/image" Target="../media/asset_b63a2aa17ccd6124293a7ea5.png"/><Relationship Id="rId9" Type="http://schemas.openxmlformats.org/officeDocument/2006/relationships/image" Target="../media/asset_53548ca6e57cc55c2ca93d8a.png"/><Relationship Id="rId10" Type="http://schemas.openxmlformats.org/officeDocument/2006/relationships/image" Target="../media/asset_75d58709a1d6576efc41e601.png"/><Relationship Id="rId11" Type="http://schemas.openxmlformats.org/officeDocument/2006/relationships/image" Target="../media/asset_8828c387ec986231b1030685.png"/><Relationship Id="rId12" Type="http://schemas.openxmlformats.org/officeDocument/2006/relationships/image" Target="../media/asset_dab7cccc7d810d105db3cb04.png"/><Relationship Id="rId13" Type="http://schemas.openxmlformats.org/officeDocument/2006/relationships/image" Target="../media/asset_9cb506d6fbc1804b9831fe82.png"/><Relationship Id="rId14" Type="http://schemas.openxmlformats.org/officeDocument/2006/relationships/image" Target="../media/asset_b8f3d1175818990b7aec78d9.png"/><Relationship Id="rId15" Type="http://schemas.openxmlformats.org/officeDocument/2006/relationships/image" Target="../media/asset_caeb6f05ee29b09e8b27aeea.png"/><Relationship Id="rId16" Type="http://schemas.openxmlformats.org/officeDocument/2006/relationships/image" Target="../media/asset_784305706ab62b0eff852607.png"/><Relationship Id="rId17" Type="http://schemas.openxmlformats.org/officeDocument/2006/relationships/image" Target="../media/asset_53b94d9752772eda74e14650.png"/><Relationship Id="rId18" Type="http://schemas.openxmlformats.org/officeDocument/2006/relationships/image" Target="../media/asset_7ab51d7a783acb14073f774a.png"/><Relationship Id="rId19" Type="http://schemas.openxmlformats.org/officeDocument/2006/relationships/image" Target="../media/asset_bf1676190f15516344e66249.png"/><Relationship Id="rId20" Type="http://schemas.openxmlformats.org/officeDocument/2006/relationships/image" Target="../media/asset_07b0e0da2cb745ce05f92a43.png"/><Relationship Id="rId21" Type="http://schemas.openxmlformats.org/officeDocument/2006/relationships/image" Target="../media/asset_ba41ea60cf0b500c973f737e.png"/><Relationship Id="rId22" Type="http://schemas.openxmlformats.org/officeDocument/2006/relationships/image" Target="../media/asset_1d0f72a3fe439ad29d09e513.png"/><Relationship Id="rId23" Type="http://schemas.openxmlformats.org/officeDocument/2006/relationships/image" Target="../media/asset_30ca400ba0df5a0a92780749.png"/><Relationship Id="rId24" Type="http://schemas.openxmlformats.org/officeDocument/2006/relationships/image" Target="../media/asset_6f0860e8a2a0bac7ca3a8211.png"/><Relationship Id="rId25" Type="http://schemas.openxmlformats.org/officeDocument/2006/relationships/image" Target="../media/asset_a70a0849e16c994eb2dc32aa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EGAgent Live · 在线采集、识别与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8005936"/>
          </a:xfrm>
          <a:prstGeom prst="rect">
            <a:avLst/>
          </a:prstGeom>
          <a:solidFill>
            <a:srgbClr val="FFFFFF"/>
          </a:solidFill>
          <a:ln w="10770" cap="rnd">
            <a:noFill/>
          </a:ln>
        </p:spPr>
      </p:sp>
      <p:grpSp>
        <p:nvGrpSpPr>
          <p:cNvPr id="86" name="MODULE_DEVICE"/>
          <p:cNvGrpSpPr/>
          <p:nvPr/>
        </p:nvGrpSpPr>
        <p:grpSpPr>
          <a:xfrm>
            <a:off x="215406" y="1098572"/>
            <a:ext cx="2067901" cy="2161244"/>
            <a:chOff x="215406" y="1098572"/>
            <a:chExt cx="2067901" cy="2161244"/>
          </a:xfrm>
        </p:grpSpPr>
        <p:sp>
          <p:nvSpPr>
            <p:cNvPr id="3" name="DEVICE_FRAME"/>
            <p:cNvSpPr/>
            <p:nvPr/>
          </p:nvSpPr>
          <p:spPr>
            <a:xfrm>
              <a:off x="215406" y="1098572"/>
              <a:ext cx="2067901" cy="2161244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5796" cap="rnd">
              <a:solidFill>
                <a:srgbClr val="60218A"/>
              </a:solidFill>
              <a:round/>
            </a:ln>
          </p:spPr>
        </p:sp>
        <p:sp>
          <p:nvSpPr>
            <p:cNvPr id="4" name="DEVICE_HEADER"/>
            <p:cNvSpPr/>
            <p:nvPr/>
          </p:nvSpPr>
          <p:spPr>
            <a:xfrm>
              <a:off x="229767" y="1112933"/>
              <a:ext cx="2039180" cy="445173"/>
            </a:xfrm>
            <a:custGeom>
              <a:avLst/>
              <a:gdLst/>
              <a:ahLst/>
              <a:cxnLst/>
              <a:rect l="0" t="0" r="r" b="b"/>
              <a:pathLst>
                <a:path w="284000" h="62000" fill="norm" stroke="0">
                  <a:moveTo>
                    <a:pt x="16000" y="0"/>
                  </a:moveTo>
                  <a:lnTo>
                    <a:pt x="268000" y="0"/>
                  </a:lnTo>
                  <a:cubicBezTo>
                    <a:pt x="276800" y="0"/>
                    <a:pt x="284000" y="7200"/>
                    <a:pt x="284000" y="16000"/>
                  </a:cubicBezTo>
                  <a:lnTo>
                    <a:pt x="284000" y="62000"/>
                  </a:lnTo>
                  <a:lnTo>
                    <a:pt x="0" y="62000"/>
                  </a:lnTo>
                  <a:lnTo>
                    <a:pt x="0" y="16000"/>
                  </a:lnTo>
                  <a:cubicBezTo>
                    <a:pt x="0" y="7200"/>
                    <a:pt x="7200" y="0"/>
                    <a:pt x="1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4E8F6"/>
                </a:gs>
                <a:gs pos="100000">
                  <a:srgbClr val="F0EDFA"/>
                </a:gs>
              </a:gsLst>
              <a:lin ang="0" scaled="1"/>
            </a:gradFill>
            <a:ln w="7180" cap="rnd">
              <a:noFill/>
            </a:ln>
          </p:spPr>
        </p:sp>
        <p:pic>
          <p:nvPicPr>
            <p:cNvPr id="62" name="IMAGE_CAP" descr="source-crop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0028" y="1744792"/>
              <a:ext cx="1507845" cy="1335519"/>
            </a:xfrm>
            <a:prstGeom prst="rect">
              <a:avLst/>
            </a:prstGeom>
          </p:spPr>
        </p:pic>
        <p:pic>
          <p:nvPicPr>
            <p:cNvPr id="63" name="IMAGE_WIRELESS" descr="source-cro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3774" y="2347929"/>
              <a:ext cx="330290" cy="732382"/>
            </a:xfrm>
            <a:prstGeom prst="rect">
              <a:avLst/>
            </a:prstGeom>
          </p:spPr>
        </p:pic>
        <p:sp>
          <p:nvSpPr>
            <p:cNvPr id="27" name="DEVICE_TITLE"/>
            <p:cNvSpPr txBox="1"/>
            <p:nvPr/>
          </p:nvSpPr>
          <p:spPr>
            <a:xfrm>
              <a:off x="280028" y="1141654"/>
              <a:ext cx="1938657" cy="373371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1696" b="1" i="0" spc="0" lang="en-US">
                  <a:solidFill>
                    <a:srgbClr val="351056"/>
                  </a:solidFill>
                  <a:latin typeface="Roboto"/>
                  <a:ea typeface="Microsoft YaHei"/>
                </a:defRPr>
              </a:pPr>
              <a:r>
                <a:rPr sz="1696" b="1" i="0" spc="0" lang="en-US">
                  <a:solidFill>
                    <a:srgbClr val="351056"/>
                  </a:solidFill>
                  <a:latin typeface="Roboto"/>
                  <a:ea typeface="Microsoft YaHei"/>
                </a:rPr>
                <a:t>OpenBCI设备</a:t>
              </a:r>
              <a:endParaRPr sz="1696" b="1" i="0" spc="0" lang="en-US">
                <a:solidFill>
                  <a:srgbClr val="351056"/>
                </a:solidFill>
                <a:latin typeface="Roboto"/>
                <a:ea typeface="Microsoft YaHei"/>
              </a:endParaRPr>
            </a:p>
          </p:txBody>
        </p:sp>
        <p:sp>
          <p:nvSpPr>
            <p:cNvPr id="93" name="PORT_DEVICE_TO_GUI_from"/>
            <p:cNvSpPr/>
            <p:nvPr/>
          </p:nvSpPr>
          <p:spPr>
            <a:xfrm>
              <a:off x="2290424" y="2125343"/>
              <a:ext cx="128" cy="128"/>
            </a:xfrm>
            <a:prstGeom prst="rect">
              <a:avLst/>
            </a:prstGeom>
            <a:noFill/>
            <a:ln>
              <a:noFill/>
            </a:ln>
            <a:effectLst/>
          </p:spPr>
        </p:sp>
      </p:grpSp>
      <p:grpSp>
        <p:nvGrpSpPr>
          <p:cNvPr id="87" name="MODULE_GUI"/>
          <p:cNvGrpSpPr/>
          <p:nvPr/>
        </p:nvGrpSpPr>
        <p:grpSpPr>
          <a:xfrm>
            <a:off x="2620777" y="1098572"/>
            <a:ext cx="2218686" cy="2161244"/>
            <a:chOff x="2620777" y="1098572"/>
            <a:chExt cx="2218686" cy="2161244"/>
          </a:xfrm>
        </p:grpSpPr>
        <p:sp>
          <p:nvSpPr>
            <p:cNvPr id="5" name="GUI_FRAME"/>
            <p:cNvSpPr/>
            <p:nvPr/>
          </p:nvSpPr>
          <p:spPr>
            <a:xfrm>
              <a:off x="2620777" y="1098572"/>
              <a:ext cx="2218686" cy="2161244"/>
            </a:xfrm>
            <a:prstGeom prst="roundRect">
              <a:avLst>
                <a:gd name="adj" fmla="val 5980"/>
              </a:avLst>
            </a:prstGeom>
            <a:solidFill>
              <a:srgbClr val="FFFFFF"/>
            </a:solidFill>
            <a:ln w="15796" cap="rnd">
              <a:solidFill>
                <a:srgbClr val="60218A"/>
              </a:solidFill>
              <a:round/>
            </a:ln>
          </p:spPr>
        </p:sp>
        <p:sp>
          <p:nvSpPr>
            <p:cNvPr id="6" name="GUI_HEADER"/>
            <p:cNvSpPr/>
            <p:nvPr/>
          </p:nvSpPr>
          <p:spPr>
            <a:xfrm>
              <a:off x="2635138" y="1112933"/>
              <a:ext cx="2189965" cy="445173"/>
            </a:xfrm>
            <a:custGeom>
              <a:avLst/>
              <a:gdLst/>
              <a:ahLst/>
              <a:cxnLst/>
              <a:rect l="0" t="0" r="r" b="b"/>
              <a:pathLst>
                <a:path w="305000" h="62000" fill="norm" stroke="0">
                  <a:moveTo>
                    <a:pt x="16000" y="0"/>
                  </a:moveTo>
                  <a:lnTo>
                    <a:pt x="289000" y="0"/>
                  </a:lnTo>
                  <a:cubicBezTo>
                    <a:pt x="297800" y="0"/>
                    <a:pt x="305000" y="7200"/>
                    <a:pt x="305000" y="16000"/>
                  </a:cubicBezTo>
                  <a:lnTo>
                    <a:pt x="305000" y="62000"/>
                  </a:lnTo>
                  <a:lnTo>
                    <a:pt x="0" y="62000"/>
                  </a:lnTo>
                  <a:lnTo>
                    <a:pt x="0" y="16000"/>
                  </a:lnTo>
                  <a:cubicBezTo>
                    <a:pt x="0" y="7200"/>
                    <a:pt x="7200" y="0"/>
                    <a:pt x="1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1F1FD"/>
                </a:gs>
                <a:gs pos="100000">
                  <a:srgbClr val="E4F1FD"/>
                </a:gs>
              </a:gsLst>
              <a:lin ang="0" scaled="1"/>
            </a:gradFill>
            <a:ln w="7180" cap="rnd">
              <a:noFill/>
            </a:ln>
          </p:spPr>
        </p:sp>
        <p:pic>
          <p:nvPicPr>
            <p:cNvPr id="64" name="IMAGE_LAPTOP" descr="source-crop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28481" y="1708890"/>
              <a:ext cx="2003279" cy="1342700"/>
            </a:xfrm>
            <a:prstGeom prst="rect">
              <a:avLst/>
            </a:prstGeom>
          </p:spPr>
        </p:pic>
        <p:pic>
          <p:nvPicPr>
            <p:cNvPr id="65" name="IMAGE_GUI_SIGNALS" descr="source-crop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95194" y="2039180"/>
              <a:ext cx="976509" cy="739562"/>
            </a:xfrm>
            <a:prstGeom prst="rect">
              <a:avLst/>
            </a:prstGeom>
          </p:spPr>
        </p:pic>
        <p:pic>
          <p:nvPicPr>
            <p:cNvPr id="66" name="IMAGE_GUI_CONTROLS" descr="source-crop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29145" y="2010459"/>
              <a:ext cx="301569" cy="782643"/>
            </a:xfrm>
            <a:prstGeom prst="rect">
              <a:avLst/>
            </a:prstGeom>
          </p:spPr>
        </p:pic>
        <p:sp>
          <p:nvSpPr>
            <p:cNvPr id="28" name="GUI_TITLE"/>
            <p:cNvSpPr txBox="1"/>
            <p:nvPr/>
          </p:nvSpPr>
          <p:spPr>
            <a:xfrm>
              <a:off x="2685399" y="1141654"/>
              <a:ext cx="2089442" cy="373371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1696" b="1" i="0" spc="0" lang="en-US">
                  <a:solidFill>
                    <a:srgbClr val="351056"/>
                  </a:solidFill>
                  <a:latin typeface="Roboto"/>
                  <a:ea typeface="Microsoft YaHei"/>
                </a:defRPr>
              </a:pPr>
              <a:r>
                <a:rPr sz="1696" b="1" i="0" spc="0" lang="en-US">
                  <a:solidFill>
                    <a:srgbClr val="351056"/>
                  </a:solidFill>
                  <a:latin typeface="Roboto"/>
                  <a:ea typeface="Microsoft YaHei"/>
                </a:rPr>
                <a:t>官方采集软件</a:t>
              </a:r>
              <a:endParaRPr sz="1696" b="1" i="0" spc="0" lang="en-US">
                <a:solidFill>
                  <a:srgbClr val="351056"/>
                </a:solidFill>
                <a:latin typeface="Roboto"/>
                <a:ea typeface="Microsoft YaHei"/>
              </a:endParaRPr>
            </a:p>
          </p:txBody>
        </p:sp>
        <p:sp>
          <p:nvSpPr>
            <p:cNvPr id="40" name="GUI_APP_NAME"/>
            <p:cNvSpPr txBox="1"/>
            <p:nvPr/>
          </p:nvSpPr>
          <p:spPr>
            <a:xfrm>
              <a:off x="2972608" y="1809413"/>
              <a:ext cx="1220636" cy="179505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961" b="0" i="0" spc="0" lang="en-US">
                  <a:solidFill>
                    <a:srgbClr val="392365"/>
                  </a:solidFill>
                  <a:latin typeface="Roboto"/>
                  <a:ea typeface="Microsoft YaHei"/>
                </a:defRPr>
              </a:pPr>
              <a:r>
                <a:rPr sz="961" b="0" i="0" spc="0" lang="en-US">
                  <a:solidFill>
                    <a:srgbClr val="392365"/>
                  </a:solidFill>
                  <a:latin typeface="Roboto"/>
                  <a:ea typeface="Microsoft YaHei"/>
                </a:rPr>
                <a:t>OpenBCI GUI</a:t>
              </a:r>
              <a:endParaRPr sz="961" b="0" i="0" spc="0" lang="en-US">
                <a:solidFill>
                  <a:srgbClr val="392365"/>
                </a:solidFill>
                <a:latin typeface="Roboto"/>
                <a:ea typeface="Microsoft YaHei"/>
              </a:endParaRPr>
            </a:p>
          </p:txBody>
        </p:sp>
        <p:sp>
          <p:nvSpPr>
            <p:cNvPr id="41" name="GUI_CHANNEL_Fz"/>
            <p:cNvSpPr txBox="1"/>
            <p:nvPr/>
          </p:nvSpPr>
          <p:spPr>
            <a:xfrm>
              <a:off x="3001329" y="2053541"/>
              <a:ext cx="172325" cy="143604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820" b="0" i="0" spc="0" lang="en-US">
                  <a:solidFill>
                    <a:srgbClr val="351056"/>
                  </a:solidFill>
                  <a:latin typeface="Roboto Condensed"/>
                  <a:ea typeface="Microsoft YaHei"/>
                </a:defRPr>
              </a:pPr>
              <a:r>
                <a:rPr sz="820" b="0" i="0" spc="0" lang="en-US">
                  <a:solidFill>
                    <a:srgbClr val="351056"/>
                  </a:solidFill>
                  <a:latin typeface="Roboto Condensed"/>
                  <a:ea typeface="Microsoft YaHei"/>
                </a:rPr>
                <a:t>Fz</a:t>
              </a:r>
              <a:endParaRPr sz="820" b="0" i="0" spc="0" lang="en-US">
                <a:solidFill>
                  <a:srgbClr val="351056"/>
                </a:solidFill>
                <a:latin typeface="Roboto Condensed"/>
                <a:ea typeface="Microsoft YaHei"/>
              </a:endParaRPr>
            </a:p>
          </p:txBody>
        </p:sp>
        <p:sp>
          <p:nvSpPr>
            <p:cNvPr id="42" name="GUI_CHANNEL_Cz"/>
            <p:cNvSpPr txBox="1"/>
            <p:nvPr/>
          </p:nvSpPr>
          <p:spPr>
            <a:xfrm>
              <a:off x="3001329" y="2240226"/>
              <a:ext cx="172325" cy="143604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820" b="0" i="0" spc="0" lang="en-US">
                  <a:solidFill>
                    <a:srgbClr val="351056"/>
                  </a:solidFill>
                  <a:latin typeface="Roboto Condensed"/>
                  <a:ea typeface="Microsoft YaHei"/>
                </a:defRPr>
              </a:pPr>
              <a:r>
                <a:rPr sz="820" b="0" i="0" spc="0" lang="en-US">
                  <a:solidFill>
                    <a:srgbClr val="351056"/>
                  </a:solidFill>
                  <a:latin typeface="Roboto Condensed"/>
                  <a:ea typeface="Microsoft YaHei"/>
                </a:rPr>
                <a:t>Cz</a:t>
              </a:r>
              <a:endParaRPr sz="820" b="0" i="0" spc="0" lang="en-US">
                <a:solidFill>
                  <a:srgbClr val="351056"/>
                </a:solidFill>
                <a:latin typeface="Roboto Condensed"/>
                <a:ea typeface="Microsoft YaHei"/>
              </a:endParaRPr>
            </a:p>
          </p:txBody>
        </p:sp>
        <p:sp>
          <p:nvSpPr>
            <p:cNvPr id="43" name="GUI_CHANNEL_Pz"/>
            <p:cNvSpPr txBox="1"/>
            <p:nvPr/>
          </p:nvSpPr>
          <p:spPr>
            <a:xfrm>
              <a:off x="3001329" y="2426912"/>
              <a:ext cx="172325" cy="143604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820" b="0" i="0" spc="0" lang="en-US">
                  <a:solidFill>
                    <a:srgbClr val="351056"/>
                  </a:solidFill>
                  <a:latin typeface="Roboto Condensed"/>
                  <a:ea typeface="Microsoft YaHei"/>
                </a:defRPr>
              </a:pPr>
              <a:r>
                <a:rPr sz="820" b="0" i="0" spc="0" lang="en-US">
                  <a:solidFill>
                    <a:srgbClr val="351056"/>
                  </a:solidFill>
                  <a:latin typeface="Roboto Condensed"/>
                  <a:ea typeface="Microsoft YaHei"/>
                </a:rPr>
                <a:t>Pz</a:t>
              </a:r>
              <a:endParaRPr sz="820" b="0" i="0" spc="0" lang="en-US">
                <a:solidFill>
                  <a:srgbClr val="351056"/>
                </a:solidFill>
                <a:latin typeface="Roboto Condensed"/>
                <a:ea typeface="Microsoft YaHei"/>
              </a:endParaRPr>
            </a:p>
          </p:txBody>
        </p:sp>
        <p:sp>
          <p:nvSpPr>
            <p:cNvPr id="44" name="GUI_CHANNEL_Oz"/>
            <p:cNvSpPr txBox="1"/>
            <p:nvPr/>
          </p:nvSpPr>
          <p:spPr>
            <a:xfrm>
              <a:off x="3001329" y="2613597"/>
              <a:ext cx="172325" cy="143604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820" b="0" i="0" spc="0" lang="en-US">
                  <a:solidFill>
                    <a:srgbClr val="351056"/>
                  </a:solidFill>
                  <a:latin typeface="Roboto Condensed"/>
                  <a:ea typeface="Microsoft YaHei"/>
                </a:defRPr>
              </a:pPr>
              <a:r>
                <a:rPr sz="820" b="0" i="0" spc="0" lang="en-US">
                  <a:solidFill>
                    <a:srgbClr val="351056"/>
                  </a:solidFill>
                  <a:latin typeface="Roboto Condensed"/>
                  <a:ea typeface="Microsoft YaHei"/>
                </a:rPr>
                <a:t>Oz</a:t>
              </a:r>
              <a:endParaRPr sz="820" b="0" i="0" spc="0" lang="en-US">
                <a:solidFill>
                  <a:srgbClr val="351056"/>
                </a:solidFill>
                <a:latin typeface="Roboto Condensed"/>
                <a:ea typeface="Microsoft YaHei"/>
              </a:endParaRPr>
            </a:p>
          </p:txBody>
        </p:sp>
        <p:sp>
          <p:nvSpPr>
            <p:cNvPr id="94" name="PORT_DEVICE_TO_GUI_to"/>
            <p:cNvSpPr/>
            <p:nvPr/>
          </p:nvSpPr>
          <p:spPr>
            <a:xfrm>
              <a:off x="2606353" y="2125350"/>
              <a:ext cx="128" cy="128"/>
            </a:xfrm>
            <a:prstGeom prst="rect">
              <a:avLst/>
            </a:prstGeom>
            <a:noFill/>
            <a:ln>
              <a:noFill/>
            </a:ln>
            <a:effectLst/>
          </p:spPr>
        </p:sp>
        <p:sp>
          <p:nvSpPr>
            <p:cNvPr id="95" name="PORT_GUI_TO_PYTHON_from"/>
            <p:cNvSpPr/>
            <p:nvPr/>
          </p:nvSpPr>
          <p:spPr>
            <a:xfrm>
              <a:off x="4846579" y="2125343"/>
              <a:ext cx="128" cy="128"/>
            </a:xfrm>
            <a:prstGeom prst="rect">
              <a:avLst/>
            </a:prstGeom>
            <a:noFill/>
            <a:ln>
              <a:noFill/>
            </a:ln>
            <a:effectLst/>
          </p:spPr>
        </p:sp>
      </p:grpSp>
      <p:grpSp>
        <p:nvGrpSpPr>
          <p:cNvPr id="88" name="MODULE_PYTHON"/>
          <p:cNvGrpSpPr/>
          <p:nvPr/>
        </p:nvGrpSpPr>
        <p:grpSpPr>
          <a:xfrm>
            <a:off x="5787251" y="1098572"/>
            <a:ext cx="2742841" cy="2197145"/>
            <a:chOff x="5787251" y="1098572"/>
            <a:chExt cx="2742841" cy="2197145"/>
          </a:xfrm>
        </p:grpSpPr>
        <p:sp>
          <p:nvSpPr>
            <p:cNvPr id="7" name="PYTHON_FRAME"/>
            <p:cNvSpPr/>
            <p:nvPr/>
          </p:nvSpPr>
          <p:spPr>
            <a:xfrm>
              <a:off x="5787251" y="1098572"/>
              <a:ext cx="2742841" cy="2197145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5796" cap="rnd">
              <a:solidFill>
                <a:srgbClr val="60218A"/>
              </a:solidFill>
              <a:round/>
            </a:ln>
          </p:spPr>
        </p:sp>
        <p:sp>
          <p:nvSpPr>
            <p:cNvPr id="8" name="PYTHON_HEADER"/>
            <p:cNvSpPr/>
            <p:nvPr/>
          </p:nvSpPr>
          <p:spPr>
            <a:xfrm>
              <a:off x="5801611" y="1112933"/>
              <a:ext cx="2714120" cy="445173"/>
            </a:xfrm>
            <a:custGeom>
              <a:avLst/>
              <a:gdLst/>
              <a:ahLst/>
              <a:cxnLst/>
              <a:rect l="0" t="0" r="r" b="b"/>
              <a:pathLst>
                <a:path w="378000" h="62000" fill="norm" stroke="0">
                  <a:moveTo>
                    <a:pt x="16000" y="0"/>
                  </a:moveTo>
                  <a:lnTo>
                    <a:pt x="362000" y="0"/>
                  </a:lnTo>
                  <a:cubicBezTo>
                    <a:pt x="370800" y="0"/>
                    <a:pt x="378000" y="7200"/>
                    <a:pt x="378000" y="16000"/>
                  </a:cubicBezTo>
                  <a:lnTo>
                    <a:pt x="378000" y="62000"/>
                  </a:lnTo>
                  <a:lnTo>
                    <a:pt x="0" y="62000"/>
                  </a:lnTo>
                  <a:lnTo>
                    <a:pt x="0" y="16000"/>
                  </a:lnTo>
                  <a:cubicBezTo>
                    <a:pt x="0" y="7200"/>
                    <a:pt x="7200" y="0"/>
                    <a:pt x="1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0F1FD"/>
                </a:gs>
                <a:gs pos="100000">
                  <a:srgbClr val="E6F2FE"/>
                </a:gs>
              </a:gsLst>
              <a:lin ang="0" scaled="1"/>
            </a:gradFill>
            <a:ln w="7180" cap="rnd">
              <a:noFill/>
            </a:ln>
          </p:spPr>
        </p:sp>
        <p:pic>
          <p:nvPicPr>
            <p:cNvPr id="67" name="IMAGE_PYTHON" descr="source-crop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78643" y="1687350"/>
              <a:ext cx="545696" cy="545696"/>
            </a:xfrm>
            <a:prstGeom prst="rect">
              <a:avLst/>
            </a:prstGeom>
          </p:spPr>
        </p:pic>
        <p:pic>
          <p:nvPicPr>
            <p:cNvPr id="68" name="IMAGE_FILTER" descr="source-crop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92481" y="2290488"/>
              <a:ext cx="595958" cy="588777"/>
            </a:xfrm>
            <a:prstGeom prst="rect">
              <a:avLst/>
            </a:prstGeom>
          </p:spPr>
        </p:pic>
        <p:pic>
          <p:nvPicPr>
            <p:cNvPr id="69" name="IMAGE_BRAIN" descr="source-crop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27477" y="2290488"/>
              <a:ext cx="394912" cy="473894"/>
            </a:xfrm>
            <a:prstGeom prst="rect">
              <a:avLst/>
            </a:prstGeom>
          </p:spPr>
        </p:pic>
        <p:pic>
          <p:nvPicPr>
            <p:cNvPr id="70" name="IMAGE_FEATURES" descr="source-crop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75124" y="2283307"/>
              <a:ext cx="466714" cy="574417"/>
            </a:xfrm>
            <a:prstGeom prst="rect">
              <a:avLst/>
            </a:prstGeom>
          </p:spPr>
        </p:pic>
        <p:pic>
          <p:nvPicPr>
            <p:cNvPr id="71" name="IMAGE_PROCESS_SIGNALS" descr="source-crop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94954" y="2312028"/>
              <a:ext cx="689300" cy="552876"/>
            </a:xfrm>
            <a:prstGeom prst="rect">
              <a:avLst/>
            </a:prstGeom>
          </p:spPr>
        </p:pic>
        <p:sp>
          <p:nvSpPr>
            <p:cNvPr id="29" name="PYTHON_TITLE"/>
            <p:cNvSpPr txBox="1"/>
            <p:nvPr/>
          </p:nvSpPr>
          <p:spPr>
            <a:xfrm>
              <a:off x="5851873" y="1141654"/>
              <a:ext cx="2613597" cy="373371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1696" b="1" i="0" spc="0" lang="en-US">
                  <a:solidFill>
                    <a:srgbClr val="351056"/>
                  </a:solidFill>
                  <a:latin typeface="Roboto"/>
                  <a:ea typeface="Microsoft YaHei"/>
                </a:defRPr>
              </a:pPr>
              <a:r>
                <a:rPr sz="1696" b="1" i="0" spc="0" lang="en-US">
                  <a:solidFill>
                    <a:srgbClr val="351056"/>
                  </a:solidFill>
                  <a:latin typeface="Roboto"/>
                  <a:ea typeface="Microsoft YaHei"/>
                </a:rPr>
                <a:t>Python在线处理</a:t>
              </a:r>
              <a:endParaRPr sz="1696" b="1" i="0" spc="0" lang="en-US">
                <a:solidFill>
                  <a:srgbClr val="351056"/>
                </a:solidFill>
                <a:latin typeface="Roboto"/>
                <a:ea typeface="Microsoft YaHei"/>
              </a:endParaRPr>
            </a:p>
          </p:txBody>
        </p:sp>
        <p:sp>
          <p:nvSpPr>
            <p:cNvPr id="37" name="PYTHON_CAPTION"/>
            <p:cNvSpPr txBox="1"/>
            <p:nvPr/>
          </p:nvSpPr>
          <p:spPr>
            <a:xfrm>
              <a:off x="5995477" y="2936707"/>
              <a:ext cx="2340749" cy="258488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1357" b="0" i="0" spc="0" lang="en-US">
                  <a:solidFill>
                    <a:srgbClr val="351056"/>
                  </a:solidFill>
                  <a:latin typeface="Roboto"/>
                  <a:ea typeface="Microsoft YaHei"/>
                </a:defRPr>
              </a:pPr>
              <a:r>
                <a:rPr sz="1357" b="0" i="0" spc="0" lang="en-US">
                  <a:solidFill>
                    <a:srgbClr val="351056"/>
                  </a:solidFill>
                  <a:latin typeface="Roboto"/>
                  <a:ea typeface="Microsoft YaHei"/>
                </a:rPr>
                <a:t>滤波与质控 · 特征与推理</a:t>
              </a:r>
              <a:endParaRPr sz="1357" b="0" i="0" spc="0" lang="en-US">
                <a:solidFill>
                  <a:srgbClr val="351056"/>
                </a:solidFill>
                <a:latin typeface="Roboto"/>
                <a:ea typeface="Microsoft YaHei"/>
              </a:endParaRPr>
            </a:p>
          </p:txBody>
        </p:sp>
        <p:cxnSp>
          <p:nvCxnSpPr>
            <p:cNvPr id="45" name="PROCESS_ARROW_1"/>
            <p:cNvCxnSpPr/>
            <p:nvPr/>
          </p:nvCxnSpPr>
          <p:spPr>
            <a:xfrm>
              <a:off x="6620155" y="2570516"/>
              <a:ext cx="136424" cy="7"/>
            </a:xfrm>
            <a:prstGeom prst="line">
              <a:avLst/>
            </a:prstGeom>
            <a:noFill/>
            <a:ln w="15796" cap="rnd">
              <a:solidFill>
                <a:srgbClr val="60218A"/>
              </a:solidFill>
              <a:round/>
              <a:tailEnd type="triangle" w="med" len="med"/>
            </a:ln>
          </p:spPr>
        </p:cxnSp>
        <p:cxnSp>
          <p:nvCxnSpPr>
            <p:cNvPr id="46" name="PROCESS_ARROW_2"/>
            <p:cNvCxnSpPr/>
            <p:nvPr/>
          </p:nvCxnSpPr>
          <p:spPr>
            <a:xfrm>
              <a:off x="7417159" y="2570516"/>
              <a:ext cx="129244" cy="7"/>
            </a:xfrm>
            <a:prstGeom prst="line">
              <a:avLst/>
            </a:prstGeom>
            <a:noFill/>
            <a:ln w="15796" cap="rnd">
              <a:solidFill>
                <a:srgbClr val="60218A"/>
              </a:solidFill>
              <a:round/>
              <a:tailEnd type="triangle" w="med" len="med"/>
            </a:ln>
          </p:spPr>
        </p:cxnSp>
        <p:sp>
          <p:nvSpPr>
            <p:cNvPr id="96" name="PORT_GUI_TO_PYTHON_to"/>
            <p:cNvSpPr/>
            <p:nvPr/>
          </p:nvSpPr>
          <p:spPr>
            <a:xfrm>
              <a:off x="5772826" y="2125350"/>
              <a:ext cx="128" cy="128"/>
            </a:xfrm>
            <a:prstGeom prst="rect">
              <a:avLst/>
            </a:prstGeom>
            <a:noFill/>
            <a:ln>
              <a:noFill/>
            </a:ln>
            <a:effectLst/>
          </p:spPr>
        </p:sp>
        <p:sp>
          <p:nvSpPr>
            <p:cNvPr id="97" name="PORT_PYTHON_TO_LIVE_from"/>
            <p:cNvSpPr/>
            <p:nvPr/>
          </p:nvSpPr>
          <p:spPr>
            <a:xfrm>
              <a:off x="8537208" y="1974558"/>
              <a:ext cx="128" cy="128"/>
            </a:xfrm>
            <a:prstGeom prst="rect">
              <a:avLst/>
            </a:prstGeom>
            <a:noFill/>
            <a:ln>
              <a:noFill/>
            </a:ln>
            <a:effectLst/>
          </p:spPr>
        </p:sp>
      </p:grpSp>
      <p:grpSp>
        <p:nvGrpSpPr>
          <p:cNvPr id="89" name="MODULE_LIVE"/>
          <p:cNvGrpSpPr/>
          <p:nvPr/>
        </p:nvGrpSpPr>
        <p:grpSpPr>
          <a:xfrm>
            <a:off x="8917823" y="1098572"/>
            <a:ext cx="3109032" cy="1809413"/>
            <a:chOff x="8917823" y="1098572"/>
            <a:chExt cx="3109032" cy="1809413"/>
          </a:xfrm>
        </p:grpSpPr>
        <p:sp>
          <p:nvSpPr>
            <p:cNvPr id="9" name="LIVE_FRAME"/>
            <p:cNvSpPr/>
            <p:nvPr/>
          </p:nvSpPr>
          <p:spPr>
            <a:xfrm>
              <a:off x="8917823" y="1098572"/>
              <a:ext cx="3109032" cy="1809413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5796" cap="rnd">
              <a:solidFill>
                <a:srgbClr val="60218A"/>
              </a:solidFill>
              <a:round/>
            </a:ln>
          </p:spPr>
        </p:sp>
        <p:sp>
          <p:nvSpPr>
            <p:cNvPr id="10" name="LIVE_HEADER"/>
            <p:cNvSpPr/>
            <p:nvPr/>
          </p:nvSpPr>
          <p:spPr>
            <a:xfrm>
              <a:off x="8932184" y="1112933"/>
              <a:ext cx="3080311" cy="416452"/>
            </a:xfrm>
            <a:custGeom>
              <a:avLst/>
              <a:gdLst/>
              <a:ahLst/>
              <a:cxnLst/>
              <a:rect l="0" t="0" r="r" b="b"/>
              <a:pathLst>
                <a:path w="429000" h="58000" fill="norm" stroke="0">
                  <a:moveTo>
                    <a:pt x="16000" y="0"/>
                  </a:moveTo>
                  <a:lnTo>
                    <a:pt x="413000" y="0"/>
                  </a:lnTo>
                  <a:cubicBezTo>
                    <a:pt x="421800" y="0"/>
                    <a:pt x="429000" y="7200"/>
                    <a:pt x="429000" y="16000"/>
                  </a:cubicBezTo>
                  <a:lnTo>
                    <a:pt x="429000" y="58000"/>
                  </a:lnTo>
                  <a:lnTo>
                    <a:pt x="0" y="58000"/>
                  </a:lnTo>
                  <a:lnTo>
                    <a:pt x="0" y="16000"/>
                  </a:lnTo>
                  <a:cubicBezTo>
                    <a:pt x="0" y="7200"/>
                    <a:pt x="7200" y="0"/>
                    <a:pt x="1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E8F7"/>
                </a:gs>
                <a:gs pos="100000">
                  <a:srgbClr val="FBE8F2"/>
                </a:gs>
              </a:gsLst>
              <a:lin ang="0" scaled="1"/>
            </a:gradFill>
            <a:ln w="7180" cap="rnd">
              <a:noFill/>
            </a:ln>
          </p:spPr>
        </p:sp>
        <p:pic>
          <p:nvPicPr>
            <p:cNvPr id="72" name="IMAGE_LIVE_SIGNALS" descr="source-crop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284014" y="1680170"/>
              <a:ext cx="1227816" cy="969329"/>
            </a:xfrm>
            <a:prstGeom prst="rect">
              <a:avLst/>
            </a:prstGeom>
          </p:spPr>
        </p:pic>
        <p:pic>
          <p:nvPicPr>
            <p:cNvPr id="73" name="IMAGE_TOPOGRAPHY" descr="source-crop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734417" y="2182784"/>
              <a:ext cx="610318" cy="595958"/>
            </a:xfrm>
            <a:prstGeom prst="rect">
              <a:avLst/>
            </a:prstGeom>
          </p:spPr>
        </p:pic>
        <p:pic>
          <p:nvPicPr>
            <p:cNvPr id="74" name="IMAGE_QUALITY_CURVE" descr="source-crop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755958" y="1680170"/>
              <a:ext cx="1120113" cy="208226"/>
            </a:xfrm>
            <a:prstGeom prst="rect">
              <a:avLst/>
            </a:prstGeom>
          </p:spPr>
        </p:pic>
        <p:pic>
          <p:nvPicPr>
            <p:cNvPr id="75" name="IMAGE_QUALITY_BAR" descr="source-crop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755958" y="1924297"/>
              <a:ext cx="1112933" cy="122064"/>
            </a:xfrm>
            <a:prstGeom prst="rect">
              <a:avLst/>
            </a:prstGeom>
          </p:spPr>
        </p:pic>
        <p:pic>
          <p:nvPicPr>
            <p:cNvPr id="76" name="IMAGE_LIVE_BARS" descr="source-crop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1380636" y="2290488"/>
              <a:ext cx="509795" cy="373371"/>
            </a:xfrm>
            <a:prstGeom prst="rect">
              <a:avLst/>
            </a:prstGeom>
          </p:spPr>
        </p:pic>
        <p:sp>
          <p:nvSpPr>
            <p:cNvPr id="30" name="LIVE_TITLE"/>
            <p:cNvSpPr txBox="1"/>
            <p:nvPr/>
          </p:nvSpPr>
          <p:spPr>
            <a:xfrm>
              <a:off x="8982445" y="1141654"/>
              <a:ext cx="2979788" cy="344650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1640" b="1" i="0" spc="0" lang="en-US">
                  <a:solidFill>
                    <a:srgbClr val="351056"/>
                  </a:solidFill>
                  <a:latin typeface="Roboto"/>
                  <a:ea typeface="Microsoft YaHei"/>
                </a:defRPr>
              </a:pPr>
              <a:r>
                <a:rPr sz="1640" b="1" i="0" spc="0" lang="en-US">
                  <a:solidFill>
                    <a:srgbClr val="351056"/>
                  </a:solidFill>
                  <a:latin typeface="Roboto"/>
                  <a:ea typeface="Microsoft YaHei"/>
                </a:rPr>
                <a:t>实时波形、质量与识别结果</a:t>
              </a:r>
              <a:endParaRPr sz="1640" b="1" i="0" spc="0" lang="en-US">
                <a:solidFill>
                  <a:srgbClr val="351056"/>
                </a:solidFill>
                <a:latin typeface="Roboto"/>
                <a:ea typeface="Microsoft YaHei"/>
              </a:endParaRPr>
            </a:p>
          </p:txBody>
        </p:sp>
        <p:sp>
          <p:nvSpPr>
            <p:cNvPr id="47" name="LIVE_CHANNEL_Fz"/>
            <p:cNvSpPr txBox="1"/>
            <p:nvPr/>
          </p:nvSpPr>
          <p:spPr>
            <a:xfrm>
              <a:off x="9068608" y="1716071"/>
              <a:ext cx="179505" cy="165145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905" b="0" i="0" spc="0" lang="en-US">
                  <a:solidFill>
                    <a:srgbClr val="351056"/>
                  </a:solidFill>
                  <a:latin typeface="Roboto Condensed"/>
                  <a:ea typeface="Microsoft YaHei"/>
                </a:defRPr>
              </a:pPr>
              <a:r>
                <a:rPr sz="905" b="0" i="0" spc="0" lang="en-US">
                  <a:solidFill>
                    <a:srgbClr val="351056"/>
                  </a:solidFill>
                  <a:latin typeface="Roboto Condensed"/>
                  <a:ea typeface="Microsoft YaHei"/>
                </a:rPr>
                <a:t>Fz</a:t>
              </a:r>
              <a:endParaRPr sz="905" b="0" i="0" spc="0" lang="en-US">
                <a:solidFill>
                  <a:srgbClr val="351056"/>
                </a:solidFill>
                <a:latin typeface="Roboto Condensed"/>
                <a:ea typeface="Microsoft YaHei"/>
              </a:endParaRPr>
            </a:p>
          </p:txBody>
        </p:sp>
        <p:sp>
          <p:nvSpPr>
            <p:cNvPr id="48" name="LIVE_CHANNEL_Cz"/>
            <p:cNvSpPr txBox="1"/>
            <p:nvPr/>
          </p:nvSpPr>
          <p:spPr>
            <a:xfrm>
              <a:off x="9068608" y="1967378"/>
              <a:ext cx="179505" cy="165145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905" b="0" i="0" spc="0" lang="en-US">
                  <a:solidFill>
                    <a:srgbClr val="351056"/>
                  </a:solidFill>
                  <a:latin typeface="Roboto Condensed"/>
                  <a:ea typeface="Microsoft YaHei"/>
                </a:defRPr>
              </a:pPr>
              <a:r>
                <a:rPr sz="905" b="0" i="0" spc="0" lang="en-US">
                  <a:solidFill>
                    <a:srgbClr val="351056"/>
                  </a:solidFill>
                  <a:latin typeface="Roboto Condensed"/>
                  <a:ea typeface="Microsoft YaHei"/>
                </a:rPr>
                <a:t>Cz</a:t>
              </a:r>
              <a:endParaRPr sz="905" b="0" i="0" spc="0" lang="en-US">
                <a:solidFill>
                  <a:srgbClr val="351056"/>
                </a:solidFill>
                <a:latin typeface="Roboto Condensed"/>
                <a:ea typeface="Microsoft YaHei"/>
              </a:endParaRPr>
            </a:p>
          </p:txBody>
        </p:sp>
        <p:sp>
          <p:nvSpPr>
            <p:cNvPr id="49" name="LIVE_CHANNEL_Pz"/>
            <p:cNvSpPr txBox="1"/>
            <p:nvPr/>
          </p:nvSpPr>
          <p:spPr>
            <a:xfrm>
              <a:off x="9068608" y="2218686"/>
              <a:ext cx="179505" cy="165145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905" b="0" i="0" spc="0" lang="en-US">
                  <a:solidFill>
                    <a:srgbClr val="351056"/>
                  </a:solidFill>
                  <a:latin typeface="Roboto Condensed"/>
                  <a:ea typeface="Microsoft YaHei"/>
                </a:defRPr>
              </a:pPr>
              <a:r>
                <a:rPr sz="905" b="0" i="0" spc="0" lang="en-US">
                  <a:solidFill>
                    <a:srgbClr val="351056"/>
                  </a:solidFill>
                  <a:latin typeface="Roboto Condensed"/>
                  <a:ea typeface="Microsoft YaHei"/>
                </a:rPr>
                <a:t>Pz</a:t>
              </a:r>
              <a:endParaRPr sz="905" b="0" i="0" spc="0" lang="en-US">
                <a:solidFill>
                  <a:srgbClr val="351056"/>
                </a:solidFill>
                <a:latin typeface="Roboto Condensed"/>
                <a:ea typeface="Microsoft YaHei"/>
              </a:endParaRPr>
            </a:p>
          </p:txBody>
        </p:sp>
        <p:sp>
          <p:nvSpPr>
            <p:cNvPr id="50" name="LIVE_CHANNEL_Oz"/>
            <p:cNvSpPr txBox="1"/>
            <p:nvPr/>
          </p:nvSpPr>
          <p:spPr>
            <a:xfrm>
              <a:off x="9068608" y="2469993"/>
              <a:ext cx="179505" cy="165145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905" b="0" i="0" spc="0" lang="en-US">
                  <a:solidFill>
                    <a:srgbClr val="351056"/>
                  </a:solidFill>
                  <a:latin typeface="Roboto Condensed"/>
                  <a:ea typeface="Microsoft YaHei"/>
                </a:defRPr>
              </a:pPr>
              <a:r>
                <a:rPr sz="905" b="0" i="0" spc="0" lang="en-US">
                  <a:solidFill>
                    <a:srgbClr val="351056"/>
                  </a:solidFill>
                  <a:latin typeface="Roboto Condensed"/>
                  <a:ea typeface="Microsoft YaHei"/>
                </a:rPr>
                <a:t>Oz</a:t>
              </a:r>
              <a:endParaRPr sz="905" b="0" i="0" spc="0" lang="en-US">
                <a:solidFill>
                  <a:srgbClr val="351056"/>
                </a:solidFill>
                <a:latin typeface="Roboto Condensed"/>
                <a:ea typeface="Microsoft YaHei"/>
              </a:endParaRPr>
            </a:p>
          </p:txBody>
        </p:sp>
        <p:cxnSp>
          <p:nvCxnSpPr>
            <p:cNvPr id="51" name="LIVE_DIVIDER"/>
            <p:cNvCxnSpPr/>
            <p:nvPr/>
          </p:nvCxnSpPr>
          <p:spPr>
            <a:xfrm>
              <a:off x="10619534" y="1687350"/>
              <a:ext cx="7" cy="1062671"/>
            </a:xfrm>
            <a:prstGeom prst="line">
              <a:avLst/>
            </a:prstGeom>
            <a:noFill/>
            <a:ln w="11488" cap="rnd">
              <a:solidFill>
                <a:srgbClr val="A398BE"/>
              </a:solidFill>
              <a:prstDash val="dash"/>
              <a:round/>
            </a:ln>
          </p:spPr>
        </p:cxnSp>
        <p:sp>
          <p:nvSpPr>
            <p:cNvPr id="98" name="PORT_PYTHON_TO_LIVE_to"/>
            <p:cNvSpPr/>
            <p:nvPr/>
          </p:nvSpPr>
          <p:spPr>
            <a:xfrm>
              <a:off x="8903399" y="1974565"/>
              <a:ext cx="128" cy="128"/>
            </a:xfrm>
            <a:prstGeom prst="rect">
              <a:avLst/>
            </a:prstGeom>
            <a:noFill/>
            <a:ln>
              <a:noFill/>
            </a:ln>
            <a:effectLst/>
          </p:spPr>
        </p:sp>
      </p:grpSp>
      <p:grpSp>
        <p:nvGrpSpPr>
          <p:cNvPr id="90" name="MODULE_SAVE"/>
          <p:cNvGrpSpPr/>
          <p:nvPr/>
        </p:nvGrpSpPr>
        <p:grpSpPr>
          <a:xfrm>
            <a:off x="8917823" y="3223915"/>
            <a:ext cx="3109032" cy="1615548"/>
            <a:chOff x="8917823" y="3223915"/>
            <a:chExt cx="3109032" cy="1615548"/>
          </a:xfrm>
        </p:grpSpPr>
        <p:sp>
          <p:nvSpPr>
            <p:cNvPr id="11" name="SAVE_FRAME"/>
            <p:cNvSpPr/>
            <p:nvPr/>
          </p:nvSpPr>
          <p:spPr>
            <a:xfrm>
              <a:off x="8917823" y="3223915"/>
              <a:ext cx="3109032" cy="1615548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796" cap="rnd">
              <a:solidFill>
                <a:srgbClr val="60218A"/>
              </a:solidFill>
              <a:round/>
            </a:ln>
          </p:spPr>
        </p:sp>
        <p:sp>
          <p:nvSpPr>
            <p:cNvPr id="12" name="SAVE_HEADER"/>
            <p:cNvSpPr/>
            <p:nvPr/>
          </p:nvSpPr>
          <p:spPr>
            <a:xfrm>
              <a:off x="8932184" y="3238276"/>
              <a:ext cx="3080311" cy="416452"/>
            </a:xfrm>
            <a:custGeom>
              <a:avLst/>
              <a:gdLst/>
              <a:ahLst/>
              <a:cxnLst/>
              <a:rect l="0" t="0" r="r" b="b"/>
              <a:pathLst>
                <a:path w="429000" h="58000" fill="norm" stroke="0">
                  <a:moveTo>
                    <a:pt x="16000" y="0"/>
                  </a:moveTo>
                  <a:lnTo>
                    <a:pt x="413000" y="0"/>
                  </a:lnTo>
                  <a:cubicBezTo>
                    <a:pt x="421800" y="0"/>
                    <a:pt x="429000" y="7200"/>
                    <a:pt x="429000" y="16000"/>
                  </a:cubicBezTo>
                  <a:lnTo>
                    <a:pt x="429000" y="58000"/>
                  </a:lnTo>
                  <a:lnTo>
                    <a:pt x="0" y="58000"/>
                  </a:lnTo>
                  <a:lnTo>
                    <a:pt x="0" y="16000"/>
                  </a:lnTo>
                  <a:cubicBezTo>
                    <a:pt x="0" y="7200"/>
                    <a:pt x="7200" y="0"/>
                    <a:pt x="1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E6F7"/>
                </a:gs>
                <a:gs pos="100000">
                  <a:srgbClr val="F4E7F4"/>
                </a:gs>
              </a:gsLst>
              <a:lin ang="0" scaled="1"/>
            </a:gradFill>
            <a:ln w="7180" cap="rnd">
              <a:noFill/>
            </a:ln>
          </p:spPr>
        </p:sp>
        <p:pic>
          <p:nvPicPr>
            <p:cNvPr id="77" name="IMAGE_DATABASE" descr="source-crop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090148" y="3841413"/>
              <a:ext cx="574417" cy="761102"/>
            </a:xfrm>
            <a:prstGeom prst="rect">
              <a:avLst/>
            </a:prstGeom>
          </p:spPr>
        </p:pic>
        <p:pic>
          <p:nvPicPr>
            <p:cNvPr id="78" name="IMAGE_DATA_FILES" descr="source-crop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707647" y="3870134"/>
              <a:ext cx="552876" cy="689300"/>
            </a:xfrm>
            <a:prstGeom prst="rect">
              <a:avLst/>
            </a:prstGeom>
          </p:spPr>
        </p:pic>
        <p:pic>
          <p:nvPicPr>
            <p:cNvPr id="83" name="IMAGE_EVENT_DOC_0" descr="source-crop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612353" y="4322488"/>
              <a:ext cx="193866" cy="244127"/>
            </a:xfrm>
            <a:prstGeom prst="rect">
              <a:avLst/>
            </a:prstGeom>
          </p:spPr>
        </p:pic>
        <p:pic>
          <p:nvPicPr>
            <p:cNvPr id="84" name="IMAGE_EVENT_DOC_1" descr="source-crop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957004" y="4322488"/>
              <a:ext cx="193866" cy="244127"/>
            </a:xfrm>
            <a:prstGeom prst="rect">
              <a:avLst/>
            </a:prstGeom>
          </p:spPr>
        </p:pic>
        <p:pic>
          <p:nvPicPr>
            <p:cNvPr id="85" name="IMAGE_EVENT_DOC_2" descr="source-crop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1301654" y="4322488"/>
              <a:ext cx="193866" cy="244127"/>
            </a:xfrm>
            <a:prstGeom prst="rect">
              <a:avLst/>
            </a:prstGeom>
          </p:spPr>
        </p:pic>
        <p:sp>
          <p:nvSpPr>
            <p:cNvPr id="31" name="SAVE_TITLE"/>
            <p:cNvSpPr txBox="1"/>
            <p:nvPr/>
          </p:nvSpPr>
          <p:spPr>
            <a:xfrm>
              <a:off x="8982445" y="3266996"/>
              <a:ext cx="2979788" cy="344650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1640" b="1" i="0" spc="0" lang="en-US">
                  <a:solidFill>
                    <a:srgbClr val="351056"/>
                  </a:solidFill>
                  <a:latin typeface="Roboto"/>
                  <a:ea typeface="Microsoft YaHei"/>
                </a:defRPr>
              </a:pPr>
              <a:r>
                <a:rPr sz="1640" b="1" i="0" spc="0" lang="en-US">
                  <a:solidFill>
                    <a:srgbClr val="351056"/>
                  </a:solidFill>
                  <a:latin typeface="Roboto"/>
                  <a:ea typeface="Microsoft YaHei"/>
                </a:rPr>
                <a:t>原始数据与实验事件保存</a:t>
              </a:r>
              <a:endParaRPr sz="1640" b="1" i="0" spc="0" lang="en-US">
                <a:solidFill>
                  <a:srgbClr val="351056"/>
                </a:solidFill>
                <a:latin typeface="Roboto"/>
                <a:ea typeface="Microsoft YaHei"/>
              </a:endParaRPr>
            </a:p>
          </p:txBody>
        </p:sp>
        <p:cxnSp>
          <p:nvCxnSpPr>
            <p:cNvPr id="52" name="SAVE_DIVIDER"/>
            <p:cNvCxnSpPr/>
            <p:nvPr/>
          </p:nvCxnSpPr>
          <p:spPr>
            <a:xfrm>
              <a:off x="10418488" y="3841413"/>
              <a:ext cx="7" cy="782643"/>
            </a:xfrm>
            <a:prstGeom prst="line">
              <a:avLst/>
            </a:prstGeom>
            <a:noFill/>
            <a:ln w="10770" cap="rnd">
              <a:solidFill>
                <a:srgbClr val="A99BC1"/>
              </a:solidFill>
              <a:prstDash val="dash"/>
              <a:round/>
            </a:ln>
          </p:spPr>
        </p:cxnSp>
        <p:cxnSp>
          <p:nvCxnSpPr>
            <p:cNvPr id="53" name="EVENT_TIME_AXIS"/>
            <p:cNvCxnSpPr/>
            <p:nvPr/>
          </p:nvCxnSpPr>
          <p:spPr>
            <a:xfrm>
              <a:off x="10554912" y="4171703"/>
              <a:ext cx="1378601" cy="7"/>
            </a:xfrm>
            <a:prstGeom prst="line">
              <a:avLst/>
            </a:prstGeom>
            <a:noFill/>
            <a:ln w="15796" cap="rnd">
              <a:solidFill>
                <a:srgbClr val="60218A"/>
              </a:solidFill>
              <a:round/>
              <a:tailEnd type="triangle" w="med" len="med"/>
            </a:ln>
          </p:spPr>
        </p:cxnSp>
        <p:cxnSp>
          <p:nvCxnSpPr>
            <p:cNvPr id="54" name="EVENT_STEM_0"/>
            <p:cNvCxnSpPr/>
            <p:nvPr/>
          </p:nvCxnSpPr>
          <p:spPr>
            <a:xfrm>
              <a:off x="10691336" y="3956297"/>
              <a:ext cx="7" cy="287208"/>
            </a:xfrm>
            <a:prstGeom prst="line">
              <a:avLst/>
            </a:prstGeom>
            <a:noFill/>
            <a:ln w="12924" cap="rnd">
              <a:solidFill>
                <a:srgbClr val="60218A"/>
              </a:solidFill>
              <a:round/>
            </a:ln>
          </p:spPr>
        </p:cxnSp>
        <p:sp>
          <p:nvSpPr>
            <p:cNvPr id="55" name="EVENT_MARKER_0"/>
            <p:cNvSpPr/>
            <p:nvPr/>
          </p:nvSpPr>
          <p:spPr>
            <a:xfrm>
              <a:off x="10626714" y="3877314"/>
              <a:ext cx="129244" cy="129244"/>
            </a:xfrm>
            <a:prstGeom prst="ellipse">
              <a:avLst/>
            </a:prstGeom>
            <a:solidFill>
              <a:srgbClr val="318BFA"/>
            </a:solidFill>
            <a:ln w="10770" cap="rnd">
              <a:noFill/>
            </a:ln>
          </p:spPr>
        </p:sp>
        <p:cxnSp>
          <p:nvCxnSpPr>
            <p:cNvPr id="56" name="EVENT_STEM_1"/>
            <p:cNvCxnSpPr/>
            <p:nvPr/>
          </p:nvCxnSpPr>
          <p:spPr>
            <a:xfrm>
              <a:off x="11035986" y="3956297"/>
              <a:ext cx="7" cy="287208"/>
            </a:xfrm>
            <a:prstGeom prst="line">
              <a:avLst/>
            </a:prstGeom>
            <a:noFill/>
            <a:ln w="12924" cap="rnd">
              <a:solidFill>
                <a:srgbClr val="60218A"/>
              </a:solidFill>
              <a:round/>
            </a:ln>
          </p:spPr>
        </p:cxnSp>
        <p:sp>
          <p:nvSpPr>
            <p:cNvPr id="57" name="EVENT_MARKER_1"/>
            <p:cNvSpPr/>
            <p:nvPr/>
          </p:nvSpPr>
          <p:spPr>
            <a:xfrm>
              <a:off x="10971364" y="3877314"/>
              <a:ext cx="129244" cy="129244"/>
            </a:xfrm>
            <a:prstGeom prst="ellipse">
              <a:avLst/>
            </a:prstGeom>
            <a:solidFill>
              <a:srgbClr val="F46DB6"/>
            </a:solidFill>
            <a:ln w="10770" cap="rnd">
              <a:noFill/>
            </a:ln>
          </p:spPr>
        </p:sp>
        <p:cxnSp>
          <p:nvCxnSpPr>
            <p:cNvPr id="58" name="EVENT_STEM_2"/>
            <p:cNvCxnSpPr/>
            <p:nvPr/>
          </p:nvCxnSpPr>
          <p:spPr>
            <a:xfrm>
              <a:off x="11380636" y="3956297"/>
              <a:ext cx="7" cy="287208"/>
            </a:xfrm>
            <a:prstGeom prst="line">
              <a:avLst/>
            </a:prstGeom>
            <a:noFill/>
            <a:ln w="12924" cap="rnd">
              <a:solidFill>
                <a:srgbClr val="60218A"/>
              </a:solidFill>
              <a:round/>
            </a:ln>
          </p:spPr>
        </p:cxnSp>
        <p:sp>
          <p:nvSpPr>
            <p:cNvPr id="59" name="EVENT_MARKER_2"/>
            <p:cNvSpPr/>
            <p:nvPr/>
          </p:nvSpPr>
          <p:spPr>
            <a:xfrm>
              <a:off x="11316014" y="3877314"/>
              <a:ext cx="129244" cy="129244"/>
            </a:xfrm>
            <a:prstGeom prst="ellipse">
              <a:avLst/>
            </a:prstGeom>
            <a:solidFill>
              <a:srgbClr val="6A2CC0"/>
            </a:solidFill>
            <a:ln w="10770" cap="rnd">
              <a:noFill/>
            </a:ln>
          </p:spPr>
        </p:sp>
        <p:cxnSp>
          <p:nvCxnSpPr>
            <p:cNvPr id="60" name="EVENT_STEM_3"/>
            <p:cNvCxnSpPr/>
            <p:nvPr/>
          </p:nvCxnSpPr>
          <p:spPr>
            <a:xfrm>
              <a:off x="11725286" y="3956297"/>
              <a:ext cx="7" cy="287208"/>
            </a:xfrm>
            <a:prstGeom prst="line">
              <a:avLst/>
            </a:prstGeom>
            <a:noFill/>
            <a:ln w="12924" cap="rnd">
              <a:solidFill>
                <a:srgbClr val="60218A"/>
              </a:solidFill>
              <a:round/>
            </a:ln>
          </p:spPr>
        </p:cxnSp>
        <p:sp>
          <p:nvSpPr>
            <p:cNvPr id="61" name="EVENT_MARKER_3"/>
            <p:cNvSpPr/>
            <p:nvPr/>
          </p:nvSpPr>
          <p:spPr>
            <a:xfrm>
              <a:off x="11660664" y="3877314"/>
              <a:ext cx="129244" cy="129244"/>
            </a:xfrm>
            <a:prstGeom prst="ellipse">
              <a:avLst/>
            </a:prstGeom>
            <a:solidFill>
              <a:srgbClr val="3CB99D"/>
            </a:solidFill>
            <a:ln w="10770" cap="rnd">
              <a:noFill/>
            </a:ln>
          </p:spPr>
        </p:sp>
      </p:grpSp>
      <p:grpSp>
        <p:nvGrpSpPr>
          <p:cNvPr id="91" name="MODULE_AGENT"/>
          <p:cNvGrpSpPr/>
          <p:nvPr/>
        </p:nvGrpSpPr>
        <p:grpSpPr>
          <a:xfrm>
            <a:off x="5327717" y="4566615"/>
            <a:ext cx="2793102" cy="2750021"/>
            <a:chOff x="5327717" y="4566615"/>
            <a:chExt cx="2793102" cy="2750021"/>
          </a:xfrm>
        </p:grpSpPr>
        <p:sp>
          <p:nvSpPr>
            <p:cNvPr id="13" name="AGENT_FRAME"/>
            <p:cNvSpPr/>
            <p:nvPr/>
          </p:nvSpPr>
          <p:spPr>
            <a:xfrm>
              <a:off x="5327717" y="4566615"/>
              <a:ext cx="2793102" cy="2750021"/>
            </a:xfrm>
            <a:prstGeom prst="roundRect">
              <a:avLst>
                <a:gd name="adj" fmla="val 4700"/>
              </a:avLst>
            </a:prstGeom>
            <a:solidFill>
              <a:srgbClr val="FFFFFF"/>
            </a:solidFill>
            <a:ln w="15796" cap="rnd">
              <a:solidFill>
                <a:srgbClr val="60218A"/>
              </a:solidFill>
              <a:round/>
            </a:ln>
          </p:spPr>
        </p:sp>
        <p:sp>
          <p:nvSpPr>
            <p:cNvPr id="14" name="AGENT_HEADER"/>
            <p:cNvSpPr/>
            <p:nvPr/>
          </p:nvSpPr>
          <p:spPr>
            <a:xfrm>
              <a:off x="5342078" y="4580975"/>
              <a:ext cx="2764382" cy="409272"/>
            </a:xfrm>
            <a:custGeom>
              <a:avLst/>
              <a:gdLst/>
              <a:ahLst/>
              <a:cxnLst/>
              <a:rect l="0" t="0" r="r" b="b"/>
              <a:pathLst>
                <a:path w="385000" h="57000" fill="norm" stroke="0">
                  <a:moveTo>
                    <a:pt x="16000" y="0"/>
                  </a:moveTo>
                  <a:lnTo>
                    <a:pt x="369000" y="0"/>
                  </a:lnTo>
                  <a:cubicBezTo>
                    <a:pt x="377800" y="0"/>
                    <a:pt x="385000" y="7200"/>
                    <a:pt x="385000" y="16000"/>
                  </a:cubicBezTo>
                  <a:lnTo>
                    <a:pt x="385000" y="57000"/>
                  </a:lnTo>
                  <a:lnTo>
                    <a:pt x="0" y="57000"/>
                  </a:lnTo>
                  <a:lnTo>
                    <a:pt x="0" y="16000"/>
                  </a:lnTo>
                  <a:cubicBezTo>
                    <a:pt x="0" y="7200"/>
                    <a:pt x="7200" y="0"/>
                    <a:pt x="1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DE6EC"/>
                </a:gs>
              </a:gsLst>
              <a:lin ang="0" scaled="1"/>
            </a:gradFill>
            <a:ln w="7180" cap="rnd">
              <a:noFill/>
            </a:ln>
          </p:spPr>
        </p:sp>
        <p:pic>
          <p:nvPicPr>
            <p:cNvPr id="79" name="IMAGE_AGENT" descr="source-crop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736989" y="4983067"/>
              <a:ext cx="1981739" cy="1866855"/>
            </a:xfrm>
            <a:prstGeom prst="rect">
              <a:avLst/>
            </a:prstGeom>
          </p:spPr>
        </p:pic>
        <p:sp>
          <p:nvSpPr>
            <p:cNvPr id="32" name="AGENT_TITLE"/>
            <p:cNvSpPr txBox="1"/>
            <p:nvPr/>
          </p:nvSpPr>
          <p:spPr>
            <a:xfrm>
              <a:off x="5392339" y="4609696"/>
              <a:ext cx="2663859" cy="337470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1922" b="1" i="0" spc="0" lang="en-US">
                  <a:solidFill>
                    <a:srgbClr val="351056"/>
                  </a:solidFill>
                  <a:latin typeface="Roboto"/>
                  <a:ea typeface="Microsoft YaHei"/>
                </a:defRPr>
              </a:pPr>
              <a:r>
                <a:rPr sz="1922" b="1" i="0" spc="0" lang="en-US">
                  <a:solidFill>
                    <a:srgbClr val="351056"/>
                  </a:solidFill>
                  <a:latin typeface="Roboto"/>
                  <a:ea typeface="Microsoft YaHei"/>
                </a:rPr>
                <a:t>EEGAgent</a:t>
              </a:r>
              <a:endParaRPr sz="1922" b="1" i="0" spc="0" lang="en-US">
                <a:solidFill>
                  <a:srgbClr val="351056"/>
                </a:solidFill>
                <a:latin typeface="Roboto"/>
                <a:ea typeface="Microsoft YaHei"/>
              </a:endParaRPr>
            </a:p>
          </p:txBody>
        </p:sp>
        <p:sp>
          <p:nvSpPr>
            <p:cNvPr id="38" name="AGENT_CAPTION"/>
            <p:cNvSpPr txBox="1"/>
            <p:nvPr/>
          </p:nvSpPr>
          <p:spPr>
            <a:xfrm>
              <a:off x="5579025" y="6914544"/>
              <a:ext cx="2297668" cy="315929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1583" b="0" i="0" spc="0" lang="en-US">
                  <a:solidFill>
                    <a:srgbClr val="351056"/>
                  </a:solidFill>
                  <a:latin typeface="Roboto"/>
                  <a:ea typeface="Microsoft YaHei"/>
                </a:defRPr>
              </a:pPr>
              <a:r>
                <a:rPr sz="1583" b="0" i="0" spc="0" lang="en-US">
                  <a:solidFill>
                    <a:srgbClr val="351056"/>
                  </a:solidFill>
                  <a:latin typeface="Roboto"/>
                  <a:ea typeface="Microsoft YaHei"/>
                </a:rPr>
                <a:t>实验组织与结果解读</a:t>
              </a:r>
              <a:endParaRPr sz="1583" b="0" i="0" spc="0" lang="en-US">
                <a:solidFill>
                  <a:srgbClr val="351056"/>
                </a:solidFill>
                <a:latin typeface="Roboto"/>
                <a:ea typeface="Microsoft YaHei"/>
              </a:endParaRPr>
            </a:p>
          </p:txBody>
        </p:sp>
        <p:sp>
          <p:nvSpPr>
            <p:cNvPr id="99" name="PORT_AGENT_TO_REPORT_from"/>
            <p:cNvSpPr/>
            <p:nvPr/>
          </p:nvSpPr>
          <p:spPr>
            <a:xfrm>
              <a:off x="8127936" y="6131901"/>
              <a:ext cx="128" cy="128"/>
            </a:xfrm>
            <a:prstGeom prst="rect">
              <a:avLst/>
            </a:prstGeom>
            <a:noFill/>
            <a:ln>
              <a:noFill/>
            </a:ln>
            <a:effectLst/>
          </p:spPr>
        </p:sp>
      </p:grpSp>
      <p:grpSp>
        <p:nvGrpSpPr>
          <p:cNvPr id="92" name="MODULE_REPORT"/>
          <p:cNvGrpSpPr/>
          <p:nvPr/>
        </p:nvGrpSpPr>
        <p:grpSpPr>
          <a:xfrm>
            <a:off x="8917823" y="5119491"/>
            <a:ext cx="3109032" cy="2189965"/>
            <a:chOff x="8917823" y="5119491"/>
            <a:chExt cx="3109032" cy="2189965"/>
          </a:xfrm>
        </p:grpSpPr>
        <p:sp>
          <p:nvSpPr>
            <p:cNvPr id="15" name="REPORT_FRAME"/>
            <p:cNvSpPr/>
            <p:nvPr/>
          </p:nvSpPr>
          <p:spPr>
            <a:xfrm>
              <a:off x="8917823" y="5119491"/>
              <a:ext cx="3109032" cy="2189965"/>
            </a:xfrm>
            <a:prstGeom prst="roundRect">
              <a:avLst>
                <a:gd name="adj" fmla="val 5902"/>
              </a:avLst>
            </a:prstGeom>
            <a:solidFill>
              <a:srgbClr val="FFFFFF"/>
            </a:solidFill>
            <a:ln w="15796" cap="rnd">
              <a:solidFill>
                <a:srgbClr val="60218A"/>
              </a:solidFill>
              <a:round/>
            </a:ln>
          </p:spPr>
        </p:sp>
        <p:sp>
          <p:nvSpPr>
            <p:cNvPr id="16" name="REPORT_HEADER"/>
            <p:cNvSpPr/>
            <p:nvPr/>
          </p:nvSpPr>
          <p:spPr>
            <a:xfrm>
              <a:off x="8932184" y="5133852"/>
              <a:ext cx="3080311" cy="416452"/>
            </a:xfrm>
            <a:custGeom>
              <a:avLst/>
              <a:gdLst/>
              <a:ahLst/>
              <a:cxnLst/>
              <a:rect l="0" t="0" r="r" b="b"/>
              <a:pathLst>
                <a:path w="429000" h="58000" fill="norm" stroke="0">
                  <a:moveTo>
                    <a:pt x="16000" y="0"/>
                  </a:moveTo>
                  <a:lnTo>
                    <a:pt x="413000" y="0"/>
                  </a:lnTo>
                  <a:cubicBezTo>
                    <a:pt x="421800" y="0"/>
                    <a:pt x="429000" y="7200"/>
                    <a:pt x="429000" y="16000"/>
                  </a:cubicBezTo>
                  <a:lnTo>
                    <a:pt x="429000" y="58000"/>
                  </a:lnTo>
                  <a:lnTo>
                    <a:pt x="0" y="58000"/>
                  </a:lnTo>
                  <a:lnTo>
                    <a:pt x="0" y="16000"/>
                  </a:lnTo>
                  <a:cubicBezTo>
                    <a:pt x="0" y="7200"/>
                    <a:pt x="7200" y="0"/>
                    <a:pt x="1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3F1FC"/>
                </a:gs>
                <a:gs pos="100000">
                  <a:srgbClr val="E3F1FE"/>
                </a:gs>
              </a:gsLst>
              <a:lin ang="0" scaled="1"/>
            </a:gradFill>
            <a:ln w="7180" cap="rnd">
              <a:noFill/>
            </a:ln>
          </p:spPr>
        </p:sp>
        <p:pic>
          <p:nvPicPr>
            <p:cNvPr id="80" name="IMAGE_REPORT" descr="source-crop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018346" y="5607746"/>
              <a:ext cx="1558106" cy="1594007"/>
            </a:xfrm>
            <a:prstGeom prst="rect">
              <a:avLst/>
            </a:prstGeom>
          </p:spPr>
        </p:pic>
        <p:pic>
          <p:nvPicPr>
            <p:cNvPr id="81" name="IMAGE_REPORT_REF_1" descr="source-crop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684155" y="5909314"/>
              <a:ext cx="1163194" cy="387731"/>
            </a:xfrm>
            <a:prstGeom prst="rect">
              <a:avLst/>
            </a:prstGeom>
          </p:spPr>
        </p:pic>
        <p:pic>
          <p:nvPicPr>
            <p:cNvPr id="82" name="IMAGE_REPORT_REF_2" descr="source-crop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684155" y="6512452"/>
              <a:ext cx="1163194" cy="351830"/>
            </a:xfrm>
            <a:prstGeom prst="rect">
              <a:avLst/>
            </a:prstGeom>
          </p:spPr>
        </p:pic>
        <p:sp>
          <p:nvSpPr>
            <p:cNvPr id="33" name="REPORT_TITLE"/>
            <p:cNvSpPr txBox="1"/>
            <p:nvPr/>
          </p:nvSpPr>
          <p:spPr>
            <a:xfrm>
              <a:off x="8982445" y="5162572"/>
              <a:ext cx="2979788" cy="344650"/>
            </a:xfrm>
            <a:prstGeom prst="rect">
              <a:avLst/>
            </a:prstGeom>
            <a:noFill/>
            <a:ln w="7180" cap="rnd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1696" b="1" i="0" spc="0" lang="en-US">
                  <a:solidFill>
                    <a:srgbClr val="351056"/>
                  </a:solidFill>
                  <a:latin typeface="Roboto"/>
                  <a:ea typeface="Microsoft YaHei"/>
                </a:defRPr>
              </a:pPr>
              <a:r>
                <a:rPr sz="1696" b="1" i="0" spc="0" lang="en-US">
                  <a:solidFill>
                    <a:srgbClr val="351056"/>
                  </a:solidFill>
                  <a:latin typeface="Roboto"/>
                  <a:ea typeface="Microsoft YaHei"/>
                </a:rPr>
                <a:t>解释、比较与报告</a:t>
              </a:r>
              <a:endParaRPr sz="1696" b="1" i="0" spc="0" lang="en-US">
                <a:solidFill>
                  <a:srgbClr val="351056"/>
                </a:solidFill>
                <a:latin typeface="Roboto"/>
                <a:ea typeface="Microsoft YaHei"/>
              </a:endParaRPr>
            </a:p>
          </p:txBody>
        </p:sp>
        <p:sp>
          <p:nvSpPr>
            <p:cNvPr id="100" name="PORT_AGENT_TO_REPORT_to"/>
            <p:cNvSpPr/>
            <p:nvPr/>
          </p:nvSpPr>
          <p:spPr>
            <a:xfrm>
              <a:off x="8903399" y="6131908"/>
              <a:ext cx="128" cy="128"/>
            </a:xfrm>
            <a:prstGeom prst="rect">
              <a:avLst/>
            </a:prstGeom>
            <a:noFill/>
            <a:ln>
              <a:noFill/>
            </a:ln>
            <a:effectLst/>
          </p:spPr>
        </p:sp>
      </p:grpSp>
      <p:sp>
        <p:nvSpPr>
          <p:cNvPr id="17" name="FOOTER"/>
          <p:cNvSpPr/>
          <p:nvPr/>
        </p:nvSpPr>
        <p:spPr>
          <a:xfrm>
            <a:off x="2096622" y="7503322"/>
            <a:ext cx="8034657" cy="3805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EDF9"/>
              </a:gs>
              <a:gs pos="100000">
                <a:srgbClr val="F2F0FB"/>
              </a:gs>
            </a:gsLst>
            <a:lin ang="0" scaled="1"/>
          </a:gradFill>
          <a:ln w="10770" cap="rnd">
            <a:noFill/>
          </a:ln>
        </p:spPr>
      </p:sp>
      <p:cxnSp>
        <p:nvCxnSpPr>
          <p:cNvPr id="18" name="DEVICE_TO_GUI"/>
          <p:cNvCxnSpPr>
            <a:stCxn id="93" idx="0"/>
            <a:endCxn id="94" idx="0"/>
          </p:cNvCxnSpPr>
          <p:nvPr/>
        </p:nvCxnSpPr>
        <p:spPr>
          <a:xfrm>
            <a:off x="2290488" y="2125343"/>
            <a:ext cx="315929" cy="7"/>
          </a:xfrm>
          <a:prstGeom prst="line">
            <a:avLst/>
          </a:prstGeom>
          <a:noFill/>
          <a:ln w="24413" cap="rnd">
            <a:solidFill>
              <a:srgbClr val="60218A"/>
            </a:solidFill>
            <a:round/>
            <a:tailEnd type="triangle" w="med" len="med"/>
          </a:ln>
        </p:spPr>
      </p:cxnSp>
      <p:cxnSp>
        <p:nvCxnSpPr>
          <p:cNvPr id="19" name="GUI_TO_PYTHON"/>
          <p:cNvCxnSpPr>
            <a:stCxn id="95" idx="0"/>
            <a:endCxn id="96" idx="0"/>
          </p:cNvCxnSpPr>
          <p:nvPr/>
        </p:nvCxnSpPr>
        <p:spPr>
          <a:xfrm>
            <a:off x="4846643" y="2125343"/>
            <a:ext cx="926247" cy="7"/>
          </a:xfrm>
          <a:prstGeom prst="line">
            <a:avLst/>
          </a:prstGeom>
          <a:noFill/>
          <a:ln w="24413" cap="rnd">
            <a:solidFill>
              <a:srgbClr val="60218A"/>
            </a:solidFill>
            <a:round/>
            <a:tailEnd type="triangle" w="med" len="med"/>
          </a:ln>
        </p:spPr>
      </p:cxnSp>
      <p:cxnSp>
        <p:nvCxnSpPr>
          <p:cNvPr id="20" name="PYTHON_TO_LIVE"/>
          <p:cNvCxnSpPr>
            <a:stCxn id="97" idx="0"/>
            <a:endCxn id="98" idx="0"/>
          </p:cNvCxnSpPr>
          <p:nvPr/>
        </p:nvCxnSpPr>
        <p:spPr>
          <a:xfrm>
            <a:off x="8537272" y="1974558"/>
            <a:ext cx="366191" cy="7"/>
          </a:xfrm>
          <a:prstGeom prst="line">
            <a:avLst/>
          </a:prstGeom>
          <a:noFill/>
          <a:ln w="24413" cap="rnd">
            <a:solidFill>
              <a:srgbClr val="60218A"/>
            </a:solidFill>
            <a:round/>
            <a:tailEnd type="triangle" w="med" len="med"/>
          </a:ln>
        </p:spPr>
      </p:cxnSp>
      <p:sp>
        <p:nvSpPr>
          <p:cNvPr id="21" name="PYTHON_TO_SAVE"/>
          <p:cNvSpPr/>
          <p:nvPr/>
        </p:nvSpPr>
        <p:spPr>
          <a:xfrm>
            <a:off x="8537272" y="2584876"/>
            <a:ext cx="366191" cy="1357060"/>
          </a:xfrm>
          <a:custGeom>
            <a:avLst/>
            <a:gdLst/>
            <a:ahLst/>
            <a:cxnLst/>
            <a:rect l="0" t="0" r="r" b="b"/>
            <a:pathLst>
              <a:path w="51000" h="189000" fill="none" stroke="1">
                <a:moveTo>
                  <a:pt x="0" y="0"/>
                </a:moveTo>
                <a:lnTo>
                  <a:pt x="19000" y="0"/>
                </a:lnTo>
                <a:cubicBezTo>
                  <a:pt x="24000" y="0"/>
                  <a:pt x="26000" y="3000"/>
                  <a:pt x="26000" y="9000"/>
                </a:cubicBezTo>
                <a:lnTo>
                  <a:pt x="26000" y="180000"/>
                </a:lnTo>
                <a:cubicBezTo>
                  <a:pt x="26000" y="186000"/>
                  <a:pt x="29000" y="189000"/>
                  <a:pt x="34000" y="189000"/>
                </a:cubicBezTo>
                <a:lnTo>
                  <a:pt x="51000" y="189000"/>
                </a:lnTo>
              </a:path>
            </a:pathLst>
          </a:custGeom>
          <a:noFill/>
          <a:ln w="23695" cap="rnd">
            <a:solidFill>
              <a:srgbClr val="60218A"/>
            </a:solidFill>
            <a:round/>
            <a:tailEnd type="triangle" w="med" len="med"/>
          </a:ln>
        </p:spPr>
      </p:sp>
      <p:cxnSp>
        <p:nvCxnSpPr>
          <p:cNvPr id="22" name="AGENT_TO_REPORT"/>
          <p:cNvCxnSpPr>
            <a:stCxn id="99" idx="0"/>
            <a:endCxn id="100" idx="0"/>
          </p:cNvCxnSpPr>
          <p:nvPr/>
        </p:nvCxnSpPr>
        <p:spPr>
          <a:xfrm>
            <a:off x="8128000" y="6131901"/>
            <a:ext cx="775463" cy="7"/>
          </a:xfrm>
          <a:prstGeom prst="line">
            <a:avLst/>
          </a:prstGeom>
          <a:noFill/>
          <a:ln w="24413" cap="rnd">
            <a:solidFill>
              <a:srgbClr val="60218A"/>
            </a:solidFill>
            <a:round/>
            <a:tailEnd type="triangle" w="med" len="med"/>
          </a:ln>
        </p:spPr>
      </p:cxnSp>
      <p:sp>
        <p:nvSpPr>
          <p:cNvPr id="23" name="STRUCTURED_RESULT"/>
          <p:cNvSpPr/>
          <p:nvPr/>
        </p:nvSpPr>
        <p:spPr>
          <a:xfrm>
            <a:off x="5952396" y="3367519"/>
            <a:ext cx="488254" cy="1127293"/>
          </a:xfrm>
          <a:custGeom>
            <a:avLst/>
            <a:gdLst/>
            <a:ahLst/>
            <a:cxnLst/>
            <a:rect l="0" t="0" r="r" b="b"/>
            <a:pathLst>
              <a:path w="68000" h="157000" fill="none" stroke="1">
                <a:moveTo>
                  <a:pt x="68000" y="0"/>
                </a:moveTo>
                <a:cubicBezTo>
                  <a:pt x="17000" y="26000"/>
                  <a:pt x="0" y="103000"/>
                  <a:pt x="42000" y="157000"/>
                </a:cubicBezTo>
              </a:path>
            </a:pathLst>
          </a:custGeom>
          <a:noFill/>
          <a:ln w="37337" cap="rnd">
            <a:solidFill>
              <a:srgbClr val="EE6197"/>
            </a:solidFill>
            <a:round/>
            <a:tailEnd type="triangle" w="med" len="med"/>
          </a:ln>
        </p:spPr>
      </p:sp>
      <p:sp>
        <p:nvSpPr>
          <p:cNvPr id="24" name="EXPERIMENT_REQUEST"/>
          <p:cNvSpPr/>
          <p:nvPr/>
        </p:nvSpPr>
        <p:spPr>
          <a:xfrm>
            <a:off x="7072509" y="3360339"/>
            <a:ext cx="452353" cy="1127293"/>
          </a:xfrm>
          <a:custGeom>
            <a:avLst/>
            <a:gdLst/>
            <a:ahLst/>
            <a:cxnLst/>
            <a:rect l="0" t="0" r="r" b="b"/>
            <a:pathLst>
              <a:path w="63000" h="157000" fill="none" stroke="1">
                <a:moveTo>
                  <a:pt x="0" y="157000"/>
                </a:moveTo>
                <a:cubicBezTo>
                  <a:pt x="58000" y="124000"/>
                  <a:pt x="63000" y="57000"/>
                  <a:pt x="26000" y="0"/>
                </a:cubicBezTo>
              </a:path>
            </a:pathLst>
          </a:custGeom>
          <a:noFill/>
          <a:ln w="37337" cap="rnd">
            <a:solidFill>
              <a:srgbClr val="ED508C"/>
            </a:solidFill>
            <a:round/>
            <a:tailEnd type="triangle" w="med" len="med"/>
          </a:ln>
        </p:spPr>
      </p:sp>
      <p:sp>
        <p:nvSpPr>
          <p:cNvPr id="25" name="MAIN_TITLE"/>
          <p:cNvSpPr txBox="1"/>
          <p:nvPr/>
        </p:nvSpPr>
        <p:spPr>
          <a:xfrm>
            <a:off x="287208" y="0"/>
            <a:ext cx="3590106" cy="560057"/>
          </a:xfrm>
          <a:prstGeom prst="rect">
            <a:avLst/>
          </a:prstGeom>
          <a:noFill/>
          <a:ln w="7180" cap="rnd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514" b="1" i="0" spc="0" lang="en-US">
                <a:solidFill>
                  <a:srgbClr val="351056"/>
                </a:solidFill>
                <a:latin typeface="Roboto"/>
                <a:ea typeface="Microsoft YaHei"/>
              </a:defRPr>
            </a:pPr>
            <a:r>
              <a:rPr sz="3514" b="1" i="0" spc="0" lang="en-US">
                <a:solidFill>
                  <a:srgbClr val="351056"/>
                </a:solidFill>
                <a:latin typeface="Roboto"/>
                <a:ea typeface="Microsoft YaHei"/>
              </a:rPr>
              <a:t>EEGAgent Live</a:t>
            </a:r>
            <a:endParaRPr sz="3514" b="1" i="0" spc="0" lang="en-US">
              <a:solidFill>
                <a:srgbClr val="351056"/>
              </a:solidFill>
              <a:latin typeface="Roboto"/>
              <a:ea typeface="Microsoft YaHei"/>
            </a:endParaRPr>
          </a:p>
        </p:txBody>
      </p:sp>
      <p:sp>
        <p:nvSpPr>
          <p:cNvPr id="26" name="SUBTITLE"/>
          <p:cNvSpPr txBox="1"/>
          <p:nvPr/>
        </p:nvSpPr>
        <p:spPr>
          <a:xfrm>
            <a:off x="294389" y="545696"/>
            <a:ext cx="4379929" cy="373371"/>
          </a:xfrm>
          <a:prstGeom prst="rect">
            <a:avLst/>
          </a:prstGeom>
          <a:noFill/>
          <a:ln w="7180" cap="rnd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48" b="0" i="0" spc="0" lang="en-US">
                <a:solidFill>
                  <a:srgbClr val="351056"/>
                </a:solidFill>
                <a:latin typeface="Roboto"/>
                <a:ea typeface="Microsoft YaHei"/>
              </a:defRPr>
            </a:pPr>
            <a:r>
              <a:rPr sz="2148" b="0" i="0" spc="0" lang="en-US">
                <a:solidFill>
                  <a:srgbClr val="351056"/>
                </a:solidFill>
                <a:latin typeface="Roboto"/>
                <a:ea typeface="Microsoft YaHei"/>
              </a:rPr>
              <a:t>在线采集、识别与分析</a:t>
            </a:r>
            <a:endParaRPr sz="2148" b="0" i="0" spc="0" lang="en-US">
              <a:solidFill>
                <a:srgbClr val="351056"/>
              </a:solidFill>
              <a:latin typeface="Roboto"/>
              <a:ea typeface="Microsoft YaHei"/>
            </a:endParaRPr>
          </a:p>
        </p:txBody>
      </p:sp>
      <p:sp>
        <p:nvSpPr>
          <p:cNvPr id="34" name="LSL_LABEL"/>
          <p:cNvSpPr txBox="1"/>
          <p:nvPr/>
        </p:nvSpPr>
        <p:spPr>
          <a:xfrm>
            <a:off x="4882544" y="1802233"/>
            <a:ext cx="861625" cy="229767"/>
          </a:xfrm>
          <a:prstGeom prst="rect">
            <a:avLst/>
          </a:prstGeom>
          <a:noFill/>
          <a:ln w="7180" cap="rnd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 i="0" spc="0" lang="en-US">
                <a:solidFill>
                  <a:srgbClr val="351056"/>
                </a:solidFill>
                <a:latin typeface="Roboto"/>
                <a:ea typeface="Microsoft YaHei"/>
              </a:defRPr>
            </a:pPr>
            <a:r>
              <a:rPr sz="1300" b="0" i="0" spc="0" lang="en-US">
                <a:solidFill>
                  <a:srgbClr val="351056"/>
                </a:solidFill>
                <a:latin typeface="Roboto"/>
                <a:ea typeface="Microsoft YaHei"/>
              </a:rPr>
              <a:t>LSL数据流</a:t>
            </a:r>
            <a:endParaRPr sz="1300" b="0" i="0" spc="0" lang="en-US">
              <a:solidFill>
                <a:srgbClr val="351056"/>
              </a:solidFill>
              <a:latin typeface="Roboto"/>
              <a:ea typeface="Microsoft YaHei"/>
            </a:endParaRPr>
          </a:p>
        </p:txBody>
      </p:sp>
      <p:sp>
        <p:nvSpPr>
          <p:cNvPr id="35" name="RESULT_LABEL"/>
          <p:cNvSpPr txBox="1"/>
          <p:nvPr/>
        </p:nvSpPr>
        <p:spPr>
          <a:xfrm>
            <a:off x="5026148" y="3805512"/>
            <a:ext cx="1005230" cy="272848"/>
          </a:xfrm>
          <a:prstGeom prst="rect">
            <a:avLst/>
          </a:prstGeom>
          <a:noFill/>
          <a:ln w="7180" cap="rnd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13" b="1" i="0" spc="0" lang="en-US">
                <a:solidFill>
                  <a:srgbClr val="F00066"/>
                </a:solidFill>
                <a:latin typeface="Roboto"/>
                <a:ea typeface="Microsoft YaHei"/>
              </a:defRPr>
            </a:pPr>
            <a:r>
              <a:rPr sz="1413" b="1" i="0" spc="0" lang="en-US">
                <a:solidFill>
                  <a:srgbClr val="F00066"/>
                </a:solidFill>
                <a:latin typeface="Roboto"/>
                <a:ea typeface="Microsoft YaHei"/>
              </a:rPr>
              <a:t>结构化结果</a:t>
            </a:r>
            <a:endParaRPr sz="1413" b="1" i="0" spc="0" lang="en-US">
              <a:solidFill>
                <a:srgbClr val="F00066"/>
              </a:solidFill>
              <a:latin typeface="Roboto"/>
              <a:ea typeface="Microsoft YaHei"/>
            </a:endParaRPr>
          </a:p>
        </p:txBody>
      </p:sp>
      <p:sp>
        <p:nvSpPr>
          <p:cNvPr id="36" name="REQUEST_LABEL"/>
          <p:cNvSpPr txBox="1"/>
          <p:nvPr/>
        </p:nvSpPr>
        <p:spPr>
          <a:xfrm>
            <a:off x="7488961" y="3704989"/>
            <a:ext cx="1062671" cy="502615"/>
          </a:xfrm>
          <a:prstGeom prst="rect">
            <a:avLst/>
          </a:prstGeom>
          <a:noFill/>
          <a:ln w="7180" cap="rnd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defRPr sz="1413" b="0" i="0" spc="0" lang="en-US">
                <a:solidFill>
                  <a:srgbClr val="ED0060"/>
                </a:solidFill>
                <a:latin typeface="Roboto"/>
                <a:ea typeface="Microsoft YaHei"/>
              </a:defRPr>
            </a:pPr>
            <a:r>
              <a:rPr sz="1413" b="0" i="0" spc="0" lang="en-US">
                <a:solidFill>
                  <a:srgbClr val="ED0060"/>
                </a:solidFill>
                <a:latin typeface="Roboto"/>
                <a:ea typeface="Microsoft YaHei"/>
              </a:rPr>
              <a:t>实验设置与</a:t>
            </a:r>
            <a:endParaRPr sz="1413" b="0" i="0" spc="0" lang="en-US">
              <a:solidFill>
                <a:srgbClr val="ED0060"/>
              </a:solidFill>
              <a:latin typeface="Roboto"/>
              <a:ea typeface="Microsoft YaHei"/>
            </a:endParaRPr>
          </a:p>
          <a:p>
            <a:pPr algn="ctr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defRPr sz="1413" b="0" i="0" spc="0" lang="en-US">
                <a:solidFill>
                  <a:srgbClr val="ED0060"/>
                </a:solidFill>
                <a:latin typeface="Roboto"/>
                <a:ea typeface="Microsoft YaHei"/>
              </a:defRPr>
            </a:pPr>
            <a:r>
              <a:rPr sz="1413" b="0" i="0" spc="0" lang="en-US">
                <a:solidFill>
                  <a:srgbClr val="ED0060"/>
                </a:solidFill>
                <a:latin typeface="Roboto"/>
                <a:ea typeface="Microsoft YaHei"/>
              </a:rPr>
              <a:t>分析请求</a:t>
            </a:r>
            <a:endParaRPr sz="1413" b="0" i="0" spc="0" lang="en-US">
              <a:solidFill>
                <a:srgbClr val="ED0060"/>
              </a:solidFill>
              <a:latin typeface="Roboto"/>
              <a:ea typeface="Microsoft YaHei"/>
            </a:endParaRPr>
          </a:p>
        </p:txBody>
      </p:sp>
      <p:sp>
        <p:nvSpPr>
          <p:cNvPr id="39" name="FOOTER_LABEL"/>
          <p:cNvSpPr txBox="1"/>
          <p:nvPr/>
        </p:nvSpPr>
        <p:spPr>
          <a:xfrm>
            <a:off x="2225866" y="7553583"/>
            <a:ext cx="7776170" cy="280028"/>
          </a:xfrm>
          <a:prstGeom prst="rect">
            <a:avLst/>
          </a:prstGeom>
          <a:noFill/>
          <a:ln w="7180" cap="rnd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27" b="0" i="0" spc="0" lang="en-US">
                <a:solidFill>
                  <a:srgbClr val="351056"/>
                </a:solidFill>
                <a:latin typeface="Roboto"/>
                <a:ea typeface="Microsoft YaHei"/>
              </a:defRPr>
            </a:pPr>
            <a:r>
              <a:rPr sz="1527" b="0" i="0" spc="0" lang="en-US">
                <a:solidFill>
                  <a:srgbClr val="351056"/>
                </a:solidFill>
                <a:latin typeface="Roboto"/>
                <a:ea typeface="Microsoft YaHei"/>
              </a:rPr>
              <a:t>持续采集与在线计算，Agent按需组织实验和解释结果</a:t>
            </a:r>
            <a:endParaRPr sz="1527" b="0" i="0" spc="0" lang="en-US">
              <a:solidFill>
                <a:srgbClr val="351056"/>
              </a:solidFill>
              <a:latin typeface="Roboto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51222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Codex</dc:creator>
  <cp:lastModifiedBy>Codex</cp:lastModifiedBy>
  <cp:revision>1</cp:revision>
  <dcterms:created xsi:type="dcterms:W3CDTF">2026-10-20T07:20:29Z</dcterms:created>
  <dcterms:modified xsi:type="dcterms:W3CDTF">2026-10-20T07:20:29Z</dcterms:modified>
</cp:coreProperties>
</file>